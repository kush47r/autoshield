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267" r:id="rId5"/>
    <p:sldId id="257" r:id="rId6"/>
    <p:sldId id="258" r:id="rId7"/>
    <p:sldId id="270" r:id="rId8"/>
    <p:sldId id="259" r:id="rId9"/>
    <p:sldId id="260" r:id="rId10"/>
    <p:sldId id="268" r:id="rId11"/>
    <p:sldId id="266" r:id="rId12"/>
    <p:sldId id="263" r:id="rId13"/>
    <p:sldId id="284" r:id="rId14"/>
    <p:sldId id="285" r:id="rId15"/>
    <p:sldId id="283" r:id="rId16"/>
    <p:sldId id="277" r:id="rId17"/>
    <p:sldId id="282" r:id="rId18"/>
    <p:sldId id="265" r:id="rId19"/>
    <p:sldId id="279" r:id="rId20"/>
    <p:sldId id="264" r:id="rId21"/>
    <p:sldId id="269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5" name="Shape 15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6"/>
          <p:cNvSpPr/>
          <p:nvPr/>
        </p:nvSpPr>
        <p:spPr>
          <a:xfrm rot="5400000">
            <a:off x="5948757" y="614760"/>
            <a:ext cx="294766" cy="12191724"/>
          </a:xfrm>
          <a:prstGeom prst="rect">
            <a:avLst/>
          </a:prstGeom>
          <a:solidFill>
            <a:srgbClr val="0033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7"/>
          <p:cNvSpPr/>
          <p:nvPr/>
        </p:nvSpPr>
        <p:spPr>
          <a:xfrm>
            <a:off x="0" y="4616"/>
            <a:ext cx="12192000" cy="55930"/>
          </a:xfrm>
          <a:prstGeom prst="rect">
            <a:avLst/>
          </a:prstGeom>
          <a:solidFill>
            <a:srgbClr val="D5DE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74" y="1277070"/>
            <a:ext cx="3128541" cy="971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059" y="223912"/>
            <a:ext cx="1351482" cy="847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10" descr="Picture 10"/>
          <p:cNvPicPr>
            <a:picLocks noChangeAspect="1"/>
          </p:cNvPicPr>
          <p:nvPr/>
        </p:nvPicPr>
        <p:blipFill>
          <a:blip r:embed="rId4"/>
          <a:srcRect b="55931"/>
          <a:stretch>
            <a:fillRect/>
          </a:stretch>
        </p:blipFill>
        <p:spPr>
          <a:xfrm>
            <a:off x="-6424" y="6162059"/>
            <a:ext cx="12192000" cy="302787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11"/>
          <p:cNvSpPr txBox="1"/>
          <p:nvPr/>
        </p:nvSpPr>
        <p:spPr>
          <a:xfrm>
            <a:off x="4757973" y="6529117"/>
            <a:ext cx="30847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 i="1">
                <a:solidFill>
                  <a:srgbClr val="FFFFFF"/>
                </a:solidFill>
              </a:defRPr>
            </a:lvl1pPr>
          </a:lstStyle>
          <a:p>
            <a:r>
              <a:t>dituniversity.edu.in</a:t>
            </a:r>
          </a:p>
        </p:txBody>
      </p:sp>
      <p:pic>
        <p:nvPicPr>
          <p:cNvPr id="98" name="Picture 12" descr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" y="71000"/>
            <a:ext cx="1882483" cy="1335128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6"/>
          <p:cNvSpPr/>
          <p:nvPr/>
        </p:nvSpPr>
        <p:spPr>
          <a:xfrm rot="5400000">
            <a:off x="5948757" y="614760"/>
            <a:ext cx="294766" cy="12191724"/>
          </a:xfrm>
          <a:prstGeom prst="rect">
            <a:avLst/>
          </a:prstGeom>
          <a:solidFill>
            <a:srgbClr val="0033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" name="Rectangle 7"/>
          <p:cNvSpPr/>
          <p:nvPr/>
        </p:nvSpPr>
        <p:spPr>
          <a:xfrm>
            <a:off x="0" y="4616"/>
            <a:ext cx="12192000" cy="55930"/>
          </a:xfrm>
          <a:prstGeom prst="rect">
            <a:avLst/>
          </a:prstGeom>
          <a:solidFill>
            <a:srgbClr val="D5DE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74" y="1277070"/>
            <a:ext cx="3128541" cy="971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059" y="223912"/>
            <a:ext cx="1351482" cy="847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Picture 10" descr="Picture 10"/>
          <p:cNvPicPr>
            <a:picLocks noChangeAspect="1"/>
          </p:cNvPicPr>
          <p:nvPr/>
        </p:nvPicPr>
        <p:blipFill>
          <a:blip r:embed="rId4"/>
          <a:srcRect b="55931"/>
          <a:stretch>
            <a:fillRect/>
          </a:stretch>
        </p:blipFill>
        <p:spPr>
          <a:xfrm>
            <a:off x="-6424" y="6162059"/>
            <a:ext cx="12192000" cy="30278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Box 11"/>
          <p:cNvSpPr txBox="1"/>
          <p:nvPr/>
        </p:nvSpPr>
        <p:spPr>
          <a:xfrm>
            <a:off x="4757973" y="6529117"/>
            <a:ext cx="30847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 i="1">
                <a:solidFill>
                  <a:srgbClr val="FFFFFF"/>
                </a:solidFill>
              </a:defRPr>
            </a:lvl1pPr>
          </a:lstStyle>
          <a:p>
            <a:r>
              <a:t>dituniversity.edu.in</a:t>
            </a:r>
          </a:p>
        </p:txBody>
      </p:sp>
      <p:pic>
        <p:nvPicPr>
          <p:cNvPr id="113" name="Picture 12" descr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" y="71000"/>
            <a:ext cx="1882483" cy="1335128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6"/>
          <p:cNvSpPr/>
          <p:nvPr/>
        </p:nvSpPr>
        <p:spPr>
          <a:xfrm rot="5400000">
            <a:off x="5948757" y="614760"/>
            <a:ext cx="294766" cy="12191724"/>
          </a:xfrm>
          <a:prstGeom prst="rect">
            <a:avLst/>
          </a:prstGeom>
          <a:solidFill>
            <a:srgbClr val="0033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2" name="Rectangle 7"/>
          <p:cNvSpPr/>
          <p:nvPr/>
        </p:nvSpPr>
        <p:spPr>
          <a:xfrm>
            <a:off x="0" y="4616"/>
            <a:ext cx="12192000" cy="55930"/>
          </a:xfrm>
          <a:prstGeom prst="rect">
            <a:avLst/>
          </a:prstGeom>
          <a:solidFill>
            <a:srgbClr val="D5DE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74" y="1277070"/>
            <a:ext cx="3128541" cy="971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059" y="223912"/>
            <a:ext cx="1351482" cy="847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4"/>
          <a:srcRect b="55931"/>
          <a:stretch>
            <a:fillRect/>
          </a:stretch>
        </p:blipFill>
        <p:spPr>
          <a:xfrm>
            <a:off x="-6424" y="6162059"/>
            <a:ext cx="12192000" cy="30278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Box 11"/>
          <p:cNvSpPr txBox="1"/>
          <p:nvPr/>
        </p:nvSpPr>
        <p:spPr>
          <a:xfrm>
            <a:off x="4757973" y="6529117"/>
            <a:ext cx="30847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 i="1">
                <a:solidFill>
                  <a:srgbClr val="FFFFFF"/>
                </a:solidFill>
              </a:defRPr>
            </a:lvl1pPr>
          </a:lstStyle>
          <a:p>
            <a:r>
              <a:t>dituniversity.edu.in</a:t>
            </a:r>
          </a:p>
        </p:txBody>
      </p:sp>
      <p:pic>
        <p:nvPicPr>
          <p:cNvPr id="127" name="Picture 12" descr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" y="71000"/>
            <a:ext cx="1882483" cy="133512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6"/>
          <p:cNvSpPr/>
          <p:nvPr/>
        </p:nvSpPr>
        <p:spPr>
          <a:xfrm rot="5400000">
            <a:off x="5948757" y="614760"/>
            <a:ext cx="294766" cy="12191724"/>
          </a:xfrm>
          <a:prstGeom prst="rect">
            <a:avLst/>
          </a:prstGeom>
          <a:solidFill>
            <a:srgbClr val="0033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9" name="Rectangle 7"/>
          <p:cNvSpPr/>
          <p:nvPr/>
        </p:nvSpPr>
        <p:spPr>
          <a:xfrm>
            <a:off x="0" y="4616"/>
            <a:ext cx="12192000" cy="55930"/>
          </a:xfrm>
          <a:prstGeom prst="rect">
            <a:avLst/>
          </a:prstGeom>
          <a:solidFill>
            <a:srgbClr val="D5DE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74" y="1277070"/>
            <a:ext cx="3128541" cy="971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059" y="223912"/>
            <a:ext cx="1351482" cy="847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Picture 10" descr="Picture 10"/>
          <p:cNvPicPr>
            <a:picLocks noChangeAspect="1"/>
          </p:cNvPicPr>
          <p:nvPr/>
        </p:nvPicPr>
        <p:blipFill>
          <a:blip r:embed="rId4"/>
          <a:srcRect b="55931"/>
          <a:stretch>
            <a:fillRect/>
          </a:stretch>
        </p:blipFill>
        <p:spPr>
          <a:xfrm>
            <a:off x="-6424" y="6162059"/>
            <a:ext cx="12192000" cy="302787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11"/>
          <p:cNvSpPr txBox="1"/>
          <p:nvPr/>
        </p:nvSpPr>
        <p:spPr>
          <a:xfrm>
            <a:off x="4757973" y="6529117"/>
            <a:ext cx="30847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 i="1">
                <a:solidFill>
                  <a:srgbClr val="FFFFFF"/>
                </a:solidFill>
              </a:defRPr>
            </a:lvl1pPr>
          </a:lstStyle>
          <a:p>
            <a:r>
              <a:t>dituniversity.edu.in</a:t>
            </a:r>
          </a:p>
        </p:txBody>
      </p:sp>
      <p:pic>
        <p:nvPicPr>
          <p:cNvPr id="144" name="Picture 12" descr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" y="71000"/>
            <a:ext cx="1882483" cy="1335128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4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 rot="5400000">
            <a:off x="5948757" y="614760"/>
            <a:ext cx="294766" cy="12191724"/>
          </a:xfrm>
          <a:prstGeom prst="rect">
            <a:avLst/>
          </a:prstGeom>
          <a:solidFill>
            <a:srgbClr val="0033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7"/>
          <p:cNvSpPr/>
          <p:nvPr/>
        </p:nvSpPr>
        <p:spPr>
          <a:xfrm>
            <a:off x="0" y="4616"/>
            <a:ext cx="12192000" cy="55930"/>
          </a:xfrm>
          <a:prstGeom prst="rect">
            <a:avLst/>
          </a:prstGeom>
          <a:solidFill>
            <a:srgbClr val="D5DE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" name="Picture 8" descr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974" y="1277070"/>
            <a:ext cx="3128541" cy="971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9" descr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8059" y="223912"/>
            <a:ext cx="1351482" cy="847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10" descr="Picture 10"/>
          <p:cNvPicPr>
            <a:picLocks noChangeAspect="1"/>
          </p:cNvPicPr>
          <p:nvPr/>
        </p:nvPicPr>
        <p:blipFill>
          <a:blip r:embed="rId9"/>
          <a:srcRect b="55931"/>
          <a:stretch>
            <a:fillRect/>
          </a:stretch>
        </p:blipFill>
        <p:spPr>
          <a:xfrm>
            <a:off x="-6424" y="6162059"/>
            <a:ext cx="12192000" cy="30278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11"/>
          <p:cNvSpPr txBox="1"/>
          <p:nvPr/>
        </p:nvSpPr>
        <p:spPr>
          <a:xfrm>
            <a:off x="4757973" y="6529117"/>
            <a:ext cx="308476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 i="1">
                <a:solidFill>
                  <a:srgbClr val="FFFFFF"/>
                </a:solidFill>
              </a:defRPr>
            </a:lvl1pPr>
          </a:lstStyle>
          <a:p>
            <a:r>
              <a:t>dituniversity.edu.in</a:t>
            </a:r>
          </a:p>
        </p:txBody>
      </p:sp>
      <p:pic>
        <p:nvPicPr>
          <p:cNvPr id="8" name="Picture 12" descr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04" y="71000"/>
            <a:ext cx="1882483" cy="133512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453F-89EF-84D7-9521-3F83B0A6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04"/>
            <a:ext cx="10515600" cy="1640249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UCF-439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AUTOSHIELD: A REAL-TIME MACHINE LEARNING-DRIVEN DDOS DETECTION AND MITIGATION SYSTEM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C6621-94BD-DD7E-2B57-55415B08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5153"/>
            <a:ext cx="10515600" cy="41603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Details:</a:t>
            </a:r>
          </a:p>
          <a:p>
            <a:pPr marL="0" indent="0" algn="ctr">
              <a:buNone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No. 71</a:t>
            </a:r>
          </a:p>
          <a:p>
            <a:pPr marL="0" indent="0" algn="ctr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Angela Paul 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SAP: 1000018001         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Sharma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SAP: 1000018720  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Kushagra Upadhyaya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SAP: 1000018770</a:t>
            </a:r>
          </a:p>
          <a:p>
            <a:pPr marL="0" indent="0" algn="ctr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Details</a:t>
            </a:r>
          </a:p>
          <a:p>
            <a:pPr marL="0" indent="0" algn="ctr">
              <a:buNone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 :</a:t>
            </a:r>
            <a:r>
              <a:rPr lang="en-IN" sz="1800" dirty="0">
                <a:solidFill>
                  <a:srgbClr val="94D2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Mohd. Shariq </a:t>
            </a:r>
            <a:endParaRPr lang="en-GB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774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A5A240-BB27-5DAD-44C4-C80891D7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868"/>
            <a:ext cx="10515600" cy="1407114"/>
          </a:xfrm>
        </p:spPr>
        <p:txBody>
          <a:bodyPr/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GB" dirty="0"/>
            </a:br>
            <a:endParaRPr lang="en-IN" dirty="0"/>
          </a:p>
        </p:txBody>
      </p:sp>
      <p:sp>
        <p:nvSpPr>
          <p:cNvPr id="165" name="SlideNum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EFEDFC-0D00-416F-10CD-24658F5391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95795" y="1483371"/>
            <a:ext cx="11896205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AutoShield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 a comprehensive, real-time autonomous security platform designed to detect and mitigate Distributed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Denial of Service (DDoS) attacks without human intervention. The project specifically addresses the fundamental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inadequacy of traditional signature-based Intrusion Detection Systems (IDS), which cannot adapt to novel attack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patterns and depend on slow, manual response cycles. By shifting from reactive manual processes to an automated,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millisecond-latency defense model, the system bridges the critical gap between intelligent threat detection and active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network defense.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system's core architecture integrates high-level network engineering with sophisticated machine learning to convert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raw packets into high-fidelity intelligence. Built on a three-layer pipeline, it leverages Apache Kafka for robust data ingestion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PySpark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Structured Streaming for immediate telemetry analysis. When the analytical "brain"—powered by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like Random Forest—identifies a threat, it triggers an immediate "muscle" response via an automated firewall controller.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triggers Linux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iptables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rules within milliseconds to neutralize attacks at the source, achieving a closed-loop defense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cycle that requires no operator involvement.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0255-CA4F-5A3A-1898-45B4A46E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Background/Related Work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SlideNum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D98E9B-B136-CD07-6093-7C9B19285D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10239" y="1794976"/>
            <a:ext cx="10171522" cy="348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Background</a:t>
            </a:r>
          </a:p>
          <a:p>
            <a:r>
              <a:rPr lang="en-US" sz="1800" dirty="0"/>
              <a:t>Modern cyberattacks such as DDoS occur at multiple layers (network, protocol, and application), making them difficult to detect and mitigate. </a:t>
            </a:r>
          </a:p>
          <a:p>
            <a:r>
              <a:rPr lang="en-US" sz="1800" dirty="0"/>
              <a:t>Volumetric attacks (UDP/ICMP floods) overwhelm bandwidth, while protocol attacks (SYN floods) exhaust system resources. </a:t>
            </a:r>
          </a:p>
          <a:p>
            <a:r>
              <a:rPr lang="en-US" sz="1800" dirty="0"/>
              <a:t>Application-layer attacks (HTTP floods, </a:t>
            </a:r>
            <a:r>
              <a:rPr lang="en-US" sz="1800" dirty="0" err="1"/>
              <a:t>Slowloris</a:t>
            </a:r>
            <a:r>
              <a:rPr lang="en-US" sz="1800" dirty="0"/>
              <a:t>) closely mimic real user traffic, making detection more complex. </a:t>
            </a:r>
          </a:p>
          <a:p>
            <a:r>
              <a:rPr lang="en-US" sz="1800" dirty="0"/>
              <a:t>Threat intelligence data is scattered across multiple sources like IP reputation systems, CVE databases, and malware feeds. </a:t>
            </a:r>
          </a:p>
          <a:p>
            <a:r>
              <a:rPr lang="en-US" sz="1800" dirty="0"/>
              <a:t>Combining and analyzing this data manually is time-consuming and inefficient for real-time protection.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352C0-D555-8BC8-8B0B-EF7FA8BC8895}"/>
              </a:ext>
            </a:extLst>
          </p:cNvPr>
          <p:cNvSpPr txBox="1"/>
          <p:nvPr/>
        </p:nvSpPr>
        <p:spPr>
          <a:xfrm>
            <a:off x="688258" y="1208630"/>
            <a:ext cx="9979742" cy="48013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Related Work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tools like Snort and Suricata rely on signature-based detection and fail to detect zero-day or unknown attacks.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approaches (e.g., Random Forest on CIC-DDoS datasets) have shown high accuracy but are mostly limited to offline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Deep learning models such as LSTM and CNN improve detection accuracy but suffer from high latency, making them less suitable for real-time systems.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automated mitigation systems use SDN or firewall APIs but lack integration with real-time threat intelligence and ML models</a:t>
            </a:r>
          </a:p>
          <a:p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no unified open-source system that combines threat data aggregation, real-time ML classification, and automated firewall response.</a:t>
            </a:r>
          </a:p>
        </p:txBody>
      </p:sp>
    </p:spTree>
    <p:extLst>
      <p:ext uri="{BB962C8B-B14F-4D97-AF65-F5344CB8AC3E}">
        <p14:creationId xmlns:p14="http://schemas.microsoft.com/office/powerpoint/2010/main" val="22897018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6601-4E00-A07E-78F1-3FE8F68A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62"/>
            <a:ext cx="10515600" cy="1165226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171" name="SlideNum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70" name="Content Placeholder 2"/>
          <p:cNvSpPr txBox="1">
            <a:spLocks noGrp="1"/>
          </p:cNvSpPr>
          <p:nvPr>
            <p:ph type="body" idx="4294967295"/>
          </p:nvPr>
        </p:nvSpPr>
        <p:spPr>
          <a:xfrm>
            <a:off x="348792" y="1159497"/>
            <a:ext cx="11176458" cy="51730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>
              <a:buSzTx/>
              <a:buNone/>
              <a:defRPr sz="1600"/>
            </a:pPr>
            <a:endParaRPr sz="2200" dirty="0"/>
          </a:p>
          <a:p>
            <a:pPr marL="0" indent="0">
              <a:buNone/>
            </a:pPr>
            <a:r>
              <a:rPr lang="en-US" sz="1800" b="1" dirty="0"/>
              <a:t>Technical Feasibility</a:t>
            </a:r>
          </a:p>
          <a:p>
            <a:r>
              <a:rPr lang="en-US" sz="1800" dirty="0"/>
              <a:t>The system is built using </a:t>
            </a:r>
            <a:r>
              <a:rPr lang="en-US" sz="1800" b="1" dirty="0"/>
              <a:t>Python 3.11</a:t>
            </a:r>
            <a:r>
              <a:rPr lang="en-US" sz="1800" dirty="0"/>
              <a:t>, which provides a strong ecosystem for data processing, machine learning, and automation. </a:t>
            </a:r>
          </a:p>
          <a:p>
            <a:r>
              <a:rPr lang="en-US" sz="1800" dirty="0"/>
              <a:t>Real-time data ingestion is handled using </a:t>
            </a:r>
            <a:r>
              <a:rPr lang="en-US" sz="1800" b="1" dirty="0"/>
              <a:t>Kafka streaming</a:t>
            </a:r>
            <a:r>
              <a:rPr lang="en-US" sz="1800" dirty="0"/>
              <a:t>, enabling high-throughput processing of threat intelligence data. </a:t>
            </a:r>
          </a:p>
          <a:p>
            <a:r>
              <a:rPr lang="en-US" sz="1800" dirty="0"/>
              <a:t>Machine learning is implemented using </a:t>
            </a:r>
            <a:r>
              <a:rPr lang="en-US" sz="1800" b="1" dirty="0"/>
              <a:t>Random Forest (scikit-learn)</a:t>
            </a:r>
            <a:r>
              <a:rPr lang="en-US" sz="1800" dirty="0"/>
              <a:t>, providing high accuracy (~99.85%) with low inference time (~1 </a:t>
            </a:r>
            <a:r>
              <a:rPr lang="en-US" sz="1800" dirty="0" err="1"/>
              <a:t>ms</a:t>
            </a:r>
            <a:r>
              <a:rPr lang="en-US" sz="1800" dirty="0"/>
              <a:t> per record). </a:t>
            </a:r>
          </a:p>
          <a:p>
            <a:r>
              <a:rPr lang="en-US" sz="1800" dirty="0"/>
              <a:t>Data processing and storage are managed using </a:t>
            </a:r>
            <a:r>
              <a:rPr lang="en-US" sz="1800" b="1" dirty="0"/>
              <a:t>pandas, </a:t>
            </a:r>
            <a:r>
              <a:rPr lang="en-US" sz="1800" b="1" dirty="0" err="1"/>
              <a:t>pyarrow</a:t>
            </a:r>
            <a:r>
              <a:rPr lang="en-US" sz="1800" b="1" dirty="0"/>
              <a:t> (Parquet), and SQLite</a:t>
            </a:r>
            <a:r>
              <a:rPr lang="en-US" sz="1800" dirty="0"/>
              <a:t>, ensuring fast and efficient handling of large datasets.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Operational Feasibility</a:t>
            </a:r>
          </a:p>
          <a:p>
            <a:r>
              <a:rPr lang="en-US" sz="1800" dirty="0"/>
              <a:t>The system runs on </a:t>
            </a:r>
            <a:r>
              <a:rPr lang="en-US" sz="1800" b="1" dirty="0"/>
              <a:t>standard Windows/Linux machines</a:t>
            </a:r>
            <a:r>
              <a:rPr lang="en-US" sz="1800" dirty="0"/>
              <a:t>, requiring no specialized hardware. </a:t>
            </a:r>
          </a:p>
          <a:p>
            <a:r>
              <a:rPr lang="en-US" sz="1800" dirty="0"/>
              <a:t>Fully automated pipeline with a </a:t>
            </a:r>
            <a:r>
              <a:rPr lang="en-US" sz="1800" b="1" dirty="0"/>
              <a:t>scheduler (daily execution at 02:00 UTC)</a:t>
            </a:r>
            <a:r>
              <a:rPr lang="en-US" sz="1800" dirty="0"/>
              <a:t> reduces the need for manual monitoring. </a:t>
            </a:r>
          </a:p>
          <a:p>
            <a:r>
              <a:rPr lang="en-US" sz="1800" dirty="0"/>
              <a:t>Demonstrated ability to process real-time data and generate firewall rules in </a:t>
            </a:r>
            <a:r>
              <a:rPr lang="en-US" sz="1800" b="1" dirty="0"/>
              <a:t>under 3 minutes</a:t>
            </a:r>
            <a:r>
              <a:rPr lang="en-US" sz="1800" dirty="0"/>
              <a:t>. </a:t>
            </a:r>
          </a:p>
          <a:p>
            <a:r>
              <a:rPr lang="en-US" sz="1800" dirty="0"/>
              <a:t>Easy to maintain and extend due to modular architecture (ETL, ML, Firewall separated). </a:t>
            </a:r>
          </a:p>
          <a:p>
            <a:r>
              <a:rPr lang="en-US" sz="1800" dirty="0"/>
              <a:t>Suitable for small organizations as well as scalable for larger systems. </a:t>
            </a:r>
          </a:p>
          <a:p>
            <a:pPr marL="0" indent="0" algn="just">
              <a:buSzTx/>
              <a:buNone/>
              <a:defRPr sz="17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1063" y="603405"/>
            <a:ext cx="11289874" cy="5651189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buSzTx/>
              <a:buFont typeface="Arial" panose="020B0604020202020204" pitchFamily="34" charset="0"/>
              <a:buChar char="•"/>
              <a:defRPr sz="38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700" b="1" dirty="0"/>
              <a:t>Economic Feasibility</a:t>
            </a:r>
          </a:p>
          <a:p>
            <a:r>
              <a:rPr lang="en-US" sz="1700" dirty="0"/>
              <a:t>The entire project is built using </a:t>
            </a:r>
            <a:r>
              <a:rPr lang="en-US" sz="1700" b="1" dirty="0"/>
              <a:t>open-source technologies</a:t>
            </a:r>
            <a:r>
              <a:rPr lang="en-US" sz="1700" dirty="0"/>
              <a:t>, resulting in zero licensing cost. </a:t>
            </a:r>
          </a:p>
          <a:p>
            <a:r>
              <a:rPr lang="en-US" sz="1700" dirty="0"/>
              <a:t>No need for expensive commercial security solutions or hardware appliances. </a:t>
            </a:r>
          </a:p>
          <a:p>
            <a:r>
              <a:rPr lang="en-US" sz="1700" dirty="0"/>
              <a:t>Can be deployed on </a:t>
            </a:r>
            <a:r>
              <a:rPr lang="en-US" sz="1700" b="1" dirty="0"/>
              <a:t>low-cost or existing infrastructure</a:t>
            </a:r>
            <a:r>
              <a:rPr lang="en-US" sz="1700" dirty="0"/>
              <a:t>, reducing overall investment. </a:t>
            </a:r>
          </a:p>
          <a:p>
            <a:r>
              <a:rPr lang="en-US" sz="1700" dirty="0"/>
              <a:t>Automated system reduces human effort and operational cost in long-term maintenance. 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Risk Assessment</a:t>
            </a:r>
          </a:p>
          <a:p>
            <a:r>
              <a:rPr lang="en-US" sz="1700" b="1" dirty="0"/>
              <a:t>False positives (Medium):</a:t>
            </a:r>
            <a:r>
              <a:rPr lang="en-US" sz="1700" dirty="0"/>
              <a:t> Controlled using class balancing and threshold tuning in ML model. </a:t>
            </a:r>
          </a:p>
          <a:p>
            <a:r>
              <a:rPr lang="en-US" sz="1700" b="1" dirty="0"/>
              <a:t>API rate limits (Medium):</a:t>
            </a:r>
            <a:r>
              <a:rPr lang="en-US" sz="1700" dirty="0"/>
              <a:t> Managed using delay and retry mechanisms. </a:t>
            </a:r>
          </a:p>
          <a:p>
            <a:r>
              <a:rPr lang="en-US" sz="1700" b="1" dirty="0"/>
              <a:t>Kafka load issues (Low):</a:t>
            </a:r>
            <a:r>
              <a:rPr lang="en-US" sz="1700" dirty="0"/>
              <a:t> Handled through scalable partitioning. </a:t>
            </a:r>
          </a:p>
          <a:p>
            <a:r>
              <a:rPr lang="en-US" sz="1700" b="1" dirty="0"/>
              <a:t>New attack evasion (Low):</a:t>
            </a:r>
            <a:r>
              <a:rPr lang="en-US" sz="1700" dirty="0"/>
              <a:t> Reduced by periodic retraining of the ML model. </a:t>
            </a:r>
          </a:p>
          <a:p>
            <a:pPr algn="just">
              <a:buSzTx/>
              <a:buFont typeface="Arial" panose="020B0604020202020204" pitchFamily="34" charset="0"/>
              <a:buChar char="•"/>
              <a:defRPr sz="1600"/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SlideNum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9416-939E-C1FA-E019-FC06877F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53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6D437C-C282-E69A-8046-4AFF0C96B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5751" y="1354720"/>
            <a:ext cx="10860497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Autonomous 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 self-contained, machine learning-driven Intrusion Prevention System (IPS) that monitors and mitigates malicious network flows without human oversight.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Modular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Built as a three-tier, closed-loop system consisting of an Ingestion Layer (packet capture), an Analysis Layer (intelligence), and a Reaction Layer (firewall control).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High-Speed Streaming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Utilizes Apache Kafka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PySpark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Structured Streaming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toconvert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raw network packets into high-fidelity intelligence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Intelligent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Employs optimized Random Forest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models to distinguish malicious actors with approximately 99.85%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Instant Mitigation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Automatically updates the Linux kernel-level firewall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iptables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within milliseconds to block offending IP addresses at the source.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Real-Time Visibility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Features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dashboard providing live throughput analytics, threat geolocation, and "Explainable AI" heatmaps for security analysts.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361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94" name="Work Flow Diagram"/>
          <p:cNvSpPr txBox="1"/>
          <p:nvPr/>
        </p:nvSpPr>
        <p:spPr>
          <a:xfrm>
            <a:off x="5392145" y="553225"/>
            <a:ext cx="9239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ctr"/>
            <a:endParaRPr sz="2400" u="non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EDB7B-E931-1416-8A07-B99A3B27CCA5}"/>
              </a:ext>
            </a:extLst>
          </p:cNvPr>
          <p:cNvSpPr txBox="1"/>
          <p:nvPr/>
        </p:nvSpPr>
        <p:spPr>
          <a:xfrm>
            <a:off x="570271" y="1239059"/>
            <a:ext cx="1139558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DE7D3-B9C9-015C-1389-9E5BA31C8849}"/>
              </a:ext>
            </a:extLst>
          </p:cNvPr>
          <p:cNvSpPr txBox="1"/>
          <p:nvPr/>
        </p:nvSpPr>
        <p:spPr>
          <a:xfrm>
            <a:off x="4348317" y="522447"/>
            <a:ext cx="610091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9F9FD0-3019-29D6-309B-44DE3CC5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52" y="1525248"/>
            <a:ext cx="119058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Reliance on Reactive Defenses: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security tools like Snort and Suricata rely on static signatures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manual intervention, which results in significant damage before a human administrator can respond.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Zero-Day Vulnerability: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Signature-based systems are unable to detect previously unseen attack variants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complex, multi-vector attacks that combine volumetric and protocol-layer tactics.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 and Scalability Bottlenecks: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volumetric DDoS attacks generate millions of packets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second, which often exceed the processing capacity of single-threaded analyzers, leading to missed detections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Closed-Loop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open-source solutions typically provide discovery but not mitigation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a dangerous time gap between identifying an attack and blocking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High-Dimensional Complexity: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sheer volume and dimensionality of network telemetry make it nearly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impossible for human analysts to identify subtle anomalies in real-time without intelligent automation.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Num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65ED0-CC25-894C-7542-4EF038FA01C3}"/>
              </a:ext>
            </a:extLst>
          </p:cNvPr>
          <p:cNvSpPr txBox="1"/>
          <p:nvPr/>
        </p:nvSpPr>
        <p:spPr>
          <a:xfrm>
            <a:off x="2821858" y="700237"/>
            <a:ext cx="776502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– “Sandwich Architecture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7F119-DEE8-438A-3817-CB2508FBC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0461" y="1590264"/>
            <a:ext cx="8020144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Six-Stage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system operates as a six-stage closed-loop pipeline: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Ingestion → Buffering → Processing → Intelligence → Mitigation →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Layered Separation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13CB02-6C74-AF0B-66A0-58A817C04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61" y="4140249"/>
            <a:ext cx="26481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92CF16D-3253-0A6F-51DA-CA64643D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61" y="3470834"/>
            <a:ext cx="10825399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1: Packet Ingestion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Utilizing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Scapy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library in promiscuous mode, the system acts as a sensory organ,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sniffing every incoming packet at the Network Interface Card (NIC).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2: Buffering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Raw packet metadata (source/destination IPs, protocols, and payload lengths) is serialized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into JSON and published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Apache Kafka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This acts as a critical "shock absorber," allowing the system to ingest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millions of events per second without data loss during massive volumetric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2AB5F-48E8-7BD6-C513-FDDA52F0F191}"/>
              </a:ext>
            </a:extLst>
          </p:cNvPr>
          <p:cNvSpPr txBox="1"/>
          <p:nvPr/>
        </p:nvSpPr>
        <p:spPr>
          <a:xfrm>
            <a:off x="980461" y="2922415"/>
            <a:ext cx="61018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/>
              <a:t>Ingestion Layer (The Senses)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5451-B870-32A8-41F8-D173A89B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4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Layer (The Brain)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916745-3CCB-7E3E-9946-3BB55DF86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72" y="2103914"/>
            <a:ext cx="11069056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3: Processing &amp; Feature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PySpark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Structured Streaming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consumes the Kafka feed in 5-second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micro-batches. It aggregates individual packets into "network flows" based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5-tuple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(Source/Destination IP,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Ports, and Protocol) while calculating over 20 behavioral metrics like packet rate and protocol entropy.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4: Intelligence &amp;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system’s "analytical brain" applies an optimized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 Forest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the extracted flow features. To maintain ultra-low latency, the model is distributed across Spark worker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nodes using broadcast variables, achieving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99.85%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near-zero inference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3938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DAF9-3DA8-6F55-3BE1-217D9BD7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&amp; Visualization Layer (The Muscle)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43FCEE-5740-D071-1A79-3E80C9C0C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36" y="2238996"/>
            <a:ext cx="1133194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5: Autonomous Mitigation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When a flow is classified as malicious, a Python controller immediately triggers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"muscle" response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It injects a "DROP" rule into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Linux iptables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 the kernel level, silently terminating 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further connections from the offending IP address within milliseconds.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Stage 6: Visualization &amp; Auditing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final stage provides operational visibility through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Security analysts can monitor live throughput, view the geolocation of blocked threats, and access persistent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audit logs for forensic analysis and compliance.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2386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742F-30FA-4F98-26C5-B3792E65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15"/>
            <a:ext cx="10515600" cy="181870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F4C88-3558-AD90-88DD-AD4FCBD0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1208907"/>
            <a:ext cx="9278645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8001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3537-1AA7-A33C-26DA-5C472BB7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9BE790-D5C9-7CF1-E27C-C608970AE0CA}"/>
              </a:ext>
            </a:extLst>
          </p:cNvPr>
          <p:cNvSpPr txBox="1"/>
          <p:nvPr/>
        </p:nvSpPr>
        <p:spPr>
          <a:xfrm>
            <a:off x="963561" y="1347129"/>
            <a:ext cx="968477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B527B-C0BB-B456-0E8D-A830B6DEF8BC}"/>
              </a:ext>
            </a:extLst>
          </p:cNvPr>
          <p:cNvSpPr txBox="1"/>
          <p:nvPr/>
        </p:nvSpPr>
        <p:spPr>
          <a:xfrm>
            <a:off x="2926080" y="823909"/>
            <a:ext cx="6510431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Performance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506C966-602E-1E1C-9411-39AB2A37F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127" y="3360536"/>
            <a:ext cx="75990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9E0972-C814-5CBE-4F52-A7A85316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213" y="2547460"/>
            <a:ext cx="88629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1A6A3C-37E2-93BA-AE00-EBD6613E9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178" y="1444626"/>
            <a:ext cx="11319124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Achieved a peak classification accuracy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99.85%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the CICIDS2017 benchmark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Precision Focus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Maintains a precision score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0.99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minimize false positives and prevent blocking legitimate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Optimized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Used Recursive Feature Elimination (RFE) to prune 80+ features down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30 most</a:t>
            </a:r>
            <a:endParaRPr lang="en-US" altLang="en-US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predictive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Ultra-Low Latency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Delivers near-instant inference with a latency of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1ms per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Balanced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SMOTE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oversampling to correct class imbalances and identify rare attack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Outlier Resistance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Utilized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RobustScaler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(median/IQR) for normalization to ensure stability during varying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traffic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Algorithm Benchmarking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Outperformed secondary models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(99.11%) and sequential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(~94.6%)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overall precision.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735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2736-EBA9-9554-28AB-D66EE817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D40C1-38A3-0A3F-31B2-B8E6338FB5EA}"/>
              </a:ext>
            </a:extLst>
          </p:cNvPr>
          <p:cNvSpPr txBox="1"/>
          <p:nvPr/>
        </p:nvSpPr>
        <p:spPr>
          <a:xfrm>
            <a:off x="1101213" y="1347129"/>
            <a:ext cx="968477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63C33-18E0-C8E3-3BD7-1B5E44B45266}"/>
              </a:ext>
            </a:extLst>
          </p:cNvPr>
          <p:cNvSpPr txBox="1"/>
          <p:nvPr/>
        </p:nvSpPr>
        <p:spPr>
          <a:xfrm>
            <a:off x="3949058" y="611780"/>
            <a:ext cx="609354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Audit &amp; Evaluation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48AA7EF-327A-D538-A8FB-E7AC53459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127" y="3360536"/>
            <a:ext cx="75990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8F545-CE80-997B-FCC9-886A0CBD9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45" y="1771387"/>
            <a:ext cx="11808041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Framework Compliance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System operational protocols are aligned with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NIST Cybersecurity Framework (CSF)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robust access control and incident logging.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Automated Audit 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Every autonomous mitigation action—including the blocked IP, timestamp, and flow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 recorded in a persistent, patient inspection log.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Benchmark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system was rigorously evaluated using the industry-standard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CICIDS2017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CIC-DDoS2023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datasets to confirm high-fidelity threat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Closed-Loop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Stress testing confirms the architecture satisfies core requirements for autonomous intrusion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prevention by achieving a detection-to-block latency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under 100 milliseconds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0739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lide Number Placehold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190" name="TextBox 1"/>
          <p:cNvSpPr txBox="1"/>
          <p:nvPr/>
        </p:nvSpPr>
        <p:spPr>
          <a:xfrm>
            <a:off x="3916679" y="391534"/>
            <a:ext cx="43586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ctr"/>
            <a:r>
              <a:rPr sz="28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GB" sz="28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2" name="Table 49"/>
          <p:cNvGraphicFramePr/>
          <p:nvPr>
            <p:extLst>
              <p:ext uri="{D42A27DB-BD31-4B8C-83A1-F6EECF244321}">
                <p14:modId xmlns:p14="http://schemas.microsoft.com/office/powerpoint/2010/main" val="981599162"/>
              </p:ext>
            </p:extLst>
          </p:nvPr>
        </p:nvGraphicFramePr>
        <p:xfrm>
          <a:off x="1253174" y="1285412"/>
          <a:ext cx="9971314" cy="449708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8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4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3">
                <a:tc>
                  <a:txBody>
                    <a:bodyPr/>
                    <a:lstStyle/>
                    <a:p>
                      <a:pPr algn="l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/ Period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Tasks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1 (</a:t>
                      </a:r>
                      <a:r>
                        <a:rPr lang="en-IN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Feb</a:t>
                      </a: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Requirement Analysis</a:t>
                      </a:r>
                      <a:r>
                        <a:rPr lang="en-US" sz="1600" dirty="0"/>
                        <a:t> - Defined the project scope for autonomous DDoS mitigation and identified hardware/software needs for network sniffing.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2 (Feb-Mar)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IN" sz="1600" b="1" dirty="0"/>
                        <a:t>Environment Setup</a:t>
                      </a:r>
                      <a:r>
                        <a:rPr lang="en-IN" sz="1600" dirty="0"/>
                        <a:t> - Configured Ubuntu 22.04 LTS, Docker containers for Kafka, and initial Python scripts for packet capture using </a:t>
                      </a:r>
                      <a:r>
                        <a:rPr lang="en-IN" sz="1600" dirty="0" err="1"/>
                        <a:t>Scapy</a:t>
                      </a:r>
                      <a:r>
                        <a:rPr lang="en-IN" sz="1600" dirty="0"/>
                        <a:t>.</a:t>
                      </a:r>
                      <a:endParaRPr sz="17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3 (</a:t>
                      </a:r>
                      <a:r>
                        <a:rPr lang="en-IN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</a:t>
                      </a: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US" sz="1600" b="1" dirty="0"/>
                        <a:t>Pipeline Development</a:t>
                      </a:r>
                      <a:r>
                        <a:rPr lang="en-US" sz="1600" dirty="0"/>
                        <a:t> - Implemented the Kafka producer for real-time traffic ingestion and the </a:t>
                      </a:r>
                      <a:r>
                        <a:rPr lang="en-US" sz="1600" dirty="0" err="1"/>
                        <a:t>PySpark</a:t>
                      </a:r>
                      <a:r>
                        <a:rPr lang="en-US" sz="1600" dirty="0"/>
                        <a:t> consumer for windowed flow feature extraction.</a:t>
                      </a:r>
                      <a:endParaRPr lang="en-US" sz="17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2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4 (Mar) </a:t>
                      </a:r>
                      <a:endParaRPr sz="19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US" sz="1600" b="1" dirty="0"/>
                        <a:t>Model Training &amp; Optimization</a:t>
                      </a:r>
                      <a:r>
                        <a:rPr lang="en-US" sz="1600" dirty="0"/>
                        <a:t> - Developed Random Forest and </a:t>
                      </a: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 models using the CICIDS2017 dataset; applied RFE for feature reduction.</a:t>
                      </a:r>
                      <a:endParaRPr sz="1700" b="1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5 (Mar</a:t>
                      </a:r>
                      <a:r>
                        <a:rPr lang="en-GB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US" sz="1600" b="1" dirty="0"/>
                        <a:t>Integration &amp; Mitigation</a:t>
                      </a:r>
                      <a:r>
                        <a:rPr lang="en-US" sz="1600" dirty="0"/>
                        <a:t> - Connected the ML classifier to the reaction layer to execute automated iptables "DROP" rules at the kernel level.</a:t>
                      </a:r>
                      <a:endParaRPr lang="en-US" sz="17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6 (Apr)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US" sz="1600" b="1" dirty="0"/>
                        <a:t>Visualization &amp; Dashboard</a:t>
                      </a:r>
                      <a:r>
                        <a:rPr lang="en-US" sz="1600" dirty="0"/>
                        <a:t> - Developed a real-time </a:t>
                      </a:r>
                      <a:r>
                        <a:rPr lang="en-US" sz="1600" dirty="0" err="1"/>
                        <a:t>Streamlit</a:t>
                      </a:r>
                      <a:r>
                        <a:rPr lang="en-US" sz="1600" dirty="0"/>
                        <a:t> dashboard featuring live throughput analytics, geolocation, and audit logging.</a:t>
                      </a:r>
                      <a:endParaRPr sz="17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059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7 (Apr)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en-US" sz="1600" b="1" dirty="0"/>
                        <a:t>Testing &amp; Deployment</a:t>
                      </a:r>
                      <a:r>
                        <a:rPr lang="en-US" sz="1600" dirty="0"/>
                        <a:t> - Performed stress testing using attack simulation tools to validate the sub-100ms detection-to-block latency.</a:t>
                      </a:r>
                      <a:endParaRPr sz="17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7072-BB49-6C0D-F54C-4D481123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6ECE3-8D0A-3D75-27B8-BFC91551C400}"/>
              </a:ext>
            </a:extLst>
          </p:cNvPr>
          <p:cNvSpPr txBox="1"/>
          <p:nvPr/>
        </p:nvSpPr>
        <p:spPr>
          <a:xfrm>
            <a:off x="1101213" y="1347129"/>
            <a:ext cx="968477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E599F-04EF-B6C9-0E48-F3A3B0507FC0}"/>
              </a:ext>
            </a:extLst>
          </p:cNvPr>
          <p:cNvSpPr txBox="1"/>
          <p:nvPr/>
        </p:nvSpPr>
        <p:spPr>
          <a:xfrm>
            <a:off x="3981714" y="512817"/>
            <a:ext cx="6093542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endParaRPr lang="en-IN" sz="28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8FE98BF-C1A6-3D93-1168-755117338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127" y="3360536"/>
            <a:ext cx="75990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FCB8D2-A432-768B-9344-924E04DA3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19" y="1586720"/>
            <a:ext cx="11723081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Autonomous Defense Success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AutoShield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effectively bridges the gap between threat detection and active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defense by achieving an automated detection-to-block latency of under 100 milliseconds.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High-Performance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system demonstrates precision security through 99.85% classification accuracy,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utilizing optimized Random Forest models and real-time Spark streaming.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Encrypted Traffic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Future scope includes extending detection capabilities to HTTPS-based attacks by analyzing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TLS flow statistics without requiring packet decryption.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Federated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Plans are in place to implement federated learning across multiple nodes to enable collective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threat intelligence while maintaining data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IoT &amp; Edge Adaptation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Future development aims to adapt the framework for 5G slices and IoT edge nodes using specific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datasets like CIC-DDoS2023 for specialized training.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8062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Num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0E9F1-A6C7-353F-7FFF-A927AF417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B2479D-8C96-8BDC-D76F-16F0850CD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23" y="1654791"/>
            <a:ext cx="10693953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Real-Time Packet Ingestion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Developed a sensory layer using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Scapy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capture live network traffic in promiscuous 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and stream it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Apache Kafka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High-Throughput Streaming Pipeline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Configured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Kafka-based buffering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acts as a shock absorber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prevent data loss during massive volumetric DDoS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Automated Feature Extraction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Implemented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PySpark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Structured Streaming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aggregate raw packets into 5-tuple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flows and calculate over 20 behavioral metrics, such as protocol entropy and flow duration.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Machine Learning Intelligence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Trained and optimized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 Forest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the CICIDS2017 dataset, achieving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classification accuracy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99.85%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Feature Optimization (RFE)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Utilized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Recursive Feature Elimination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reduce the feature set from 80+ variables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30 most predictive variables to minimize inference latency.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Autonomous Mitigation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Built a Python-driven controller that automatically injects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iptables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rules at the Linux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kernel level to block malicious IPs within milliseconds.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SOC Monitoring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Developed a real-time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provides live throughput analytics, geolocation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blocked threats, and persistent audit logging.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System Evaluation &amp;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Successfully validated the system's performance, achieving a total detection-to-block latency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under 100 milliseconds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0C5D8-1B13-8F1F-3427-0E6032464940}"/>
              </a:ext>
            </a:extLst>
          </p:cNvPr>
          <p:cNvSpPr txBox="1"/>
          <p:nvPr/>
        </p:nvSpPr>
        <p:spPr>
          <a:xfrm>
            <a:off x="4770665" y="499922"/>
            <a:ext cx="610144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F5FB5-3683-3383-C884-6D1D0E96C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9249"/>
            <a:ext cx="10515600" cy="3697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  <a:endParaRPr lang="en-IN" sz="8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238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68870d-3459-4bb8-b492-d5d4072e2a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D41F84E6261148A0116404B15130BC" ma:contentTypeVersion="13" ma:contentTypeDescription="Create a new document." ma:contentTypeScope="" ma:versionID="02d6a0dbfc06e0b047b8418bfdddb9e8">
  <xsd:schema xmlns:xsd="http://www.w3.org/2001/XMLSchema" xmlns:xs="http://www.w3.org/2001/XMLSchema" xmlns:p="http://schemas.microsoft.com/office/2006/metadata/properties" xmlns:ns3="f868870d-3459-4bb8-b492-d5d4072e2a36" xmlns:ns4="1dddcadd-0356-458a-b52e-11b0be6becf5" targetNamespace="http://schemas.microsoft.com/office/2006/metadata/properties" ma:root="true" ma:fieldsID="21c3c54a8bea755fb603d7f13c102d75" ns3:_="" ns4:_="">
    <xsd:import namespace="f868870d-3459-4bb8-b492-d5d4072e2a36"/>
    <xsd:import namespace="1dddcadd-0356-458a-b52e-11b0be6bec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8870d-3459-4bb8-b492-d5d4072e2a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ddcadd-0356-458a-b52e-11b0be6becf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40088E-6F38-4758-A549-57F74A499C98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1dddcadd-0356-458a-b52e-11b0be6becf5"/>
    <ds:schemaRef ds:uri="f868870d-3459-4bb8-b492-d5d4072e2a36"/>
  </ds:schemaRefs>
</ds:datastoreItem>
</file>

<file path=customXml/itemProps2.xml><?xml version="1.0" encoding="utf-8"?>
<ds:datastoreItem xmlns:ds="http://schemas.openxmlformats.org/officeDocument/2006/customXml" ds:itemID="{B79A8D95-6E54-4F8F-9586-1FFAAA1A14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D3FB0C-B8CB-416F-9CDE-2585874E94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68870d-3459-4bb8-b492-d5d4072e2a36"/>
    <ds:schemaRef ds:uri="1dddcadd-0356-458a-b52e-11b0be6bec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2176</Words>
  <Application>Microsoft Office PowerPoint</Application>
  <PresentationFormat>Widescreen</PresentationFormat>
  <Paragraphs>213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Google Sans Text</vt:lpstr>
      <vt:lpstr>Times New Roman</vt:lpstr>
      <vt:lpstr>Office Theme</vt:lpstr>
      <vt:lpstr>UCF-439  Capstone Project  AUTOSHIELD: A REAL-TIME MACHINE LEARNING-DRIVEN DDOS DETECTION AND MITIGATION SYSTEM </vt:lpstr>
      <vt:lpstr>Introduction </vt:lpstr>
      <vt:lpstr>Background/Related Work</vt:lpstr>
      <vt:lpstr>PowerPoint Presentation</vt:lpstr>
      <vt:lpstr>Feasibility Study </vt:lpstr>
      <vt:lpstr>PowerPoint Presentation</vt:lpstr>
      <vt:lpstr>Project Description</vt:lpstr>
      <vt:lpstr>PowerPoint Presentation</vt:lpstr>
      <vt:lpstr>PowerPoint Presentation</vt:lpstr>
      <vt:lpstr>Analysis Layer (The Brain)</vt:lpstr>
      <vt:lpstr>Reaction &amp; Visualization Layer (The Muscle)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HP-PC</dc:creator>
  <cp:lastModifiedBy>KUSHAGRA UPADHYAYA</cp:lastModifiedBy>
  <cp:revision>20</cp:revision>
  <dcterms:modified xsi:type="dcterms:W3CDTF">2026-04-27T06:03:12Z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0x010100F0D41F84E6261148A0116404B15130BC</vt:lpwstr>
  </property>
</Properties>
</file>